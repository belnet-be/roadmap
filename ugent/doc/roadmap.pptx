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9" r:id="rId4"/>
    <p:sldId id="267" r:id="rId5"/>
    <p:sldId id="269" r:id="rId6"/>
    <p:sldId id="271" r:id="rId7"/>
    <p:sldId id="268" r:id="rId8"/>
    <p:sldId id="272" r:id="rId9"/>
    <p:sldId id="274" r:id="rId10"/>
    <p:sldId id="273" r:id="rId11"/>
    <p:sldId id="275" r:id="rId12"/>
    <p:sldId id="277" r:id="rId13"/>
    <p:sldId id="276" r:id="rId14"/>
    <p:sldId id="262" r:id="rId15"/>
    <p:sldId id="263" r:id="rId16"/>
    <p:sldId id="265" r:id="rId17"/>
    <p:sldId id="266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795"/>
  </p:normalViewPr>
  <p:slideViewPr>
    <p:cSldViewPr snapToGrid="0" snapToObjects="1">
      <p:cViewPr varScale="1">
        <p:scale>
          <a:sx n="93" d="100"/>
          <a:sy n="93" d="100"/>
        </p:scale>
        <p:origin x="18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5CE7-9F64-334A-AF08-0030E7084C74}" type="datetimeFigureOut">
              <a:rPr lang="en-BE" smtClean="0"/>
              <a:t>02/10/2025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2C6DF-025B-1741-B529-51F4E39CCC8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001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4193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Every question has a type, determined via foreign key question_format_id. Possible format 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Text field</a:t>
            </a:r>
            <a:endParaRPr lang="en-BE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Text area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Checkbox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Radio buttons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Dropdown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Some of these question formats are option based (attribute </a:t>
            </a:r>
            <a:r>
              <a:rPr lang="en-GB" dirty="0" err="1"/>
              <a:t>option_based</a:t>
            </a:r>
            <a:r>
              <a:rPr lang="en-GB" dirty="0"/>
              <a:t> is true). E.g. “Radio buttons”. Option based question have multiple records in </a:t>
            </a:r>
            <a:r>
              <a:rPr lang="en-GB" dirty="0" err="1"/>
              <a:t>question_options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519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Every question can have multiple guidances, directly added to a question by an org-admin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These guidances are stored in table annotations with column set to 1 (value 0 is for example_answer). For enum translation, see annotation.rb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4186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BE" dirty="0"/>
              <a:t>Every guidance can be assigned to one ore more themes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BE" dirty="0"/>
              <a:t>Every question can be assigned to one or more themes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BE" dirty="0"/>
              <a:t>Assiging themes to questions therefore means that all guidances from those themes are added as guidances. E.g. assigning theme “Data Collection” to a question, means that that question will show all guidances from that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6024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</a:t>
            </a:r>
            <a:r>
              <a:rPr lang="en-BE" dirty="0"/>
              <a:t> plan inherits its structure (sections, question, example answers, guidances ..) from the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05187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Plan get its full structure (sections, questions, example answers and guidances) via its template, and there cannot exist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85788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C6DF-025B-1741-B529-51F4E39CCC8E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180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49CA-DED1-D644-A21B-42E868856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C8E5E-04D6-504A-B0F2-038A96861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197EE-775A-054C-A029-8580BF56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10E93-9F86-834A-97CE-13C77EE6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2F863-4220-1F42-A40E-07E76E88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6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49C7-EDE8-9B45-94A3-9E496877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06D17-2E9D-CF4C-B8A5-0935D6C6C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30FED-838F-BE46-943C-B42A5C26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CE7F-AFAB-B044-B51F-A0B15E6E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0E62-36A8-4A41-A1A6-174C0113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DE71-F571-6C46-8BC9-667F8028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E877B-72A3-D143-B4E6-811BDE4A6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C22C8-C1F7-F544-A668-1CE52992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B1AE6-E22E-E444-8F36-18A6153C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31177-7571-1846-89AA-F0AA6908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0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2E77-56D1-5846-A258-7D6713F6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4C91E-5D73-DB4B-8CF6-205C9C801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89F38-2E03-5742-8FCE-0DC5477A9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F0B7-9932-0F4B-BA09-DE7FB187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7112E-1E1D-1A48-9FCD-29C041B9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8D2E5-FDAB-9045-AD1F-A627157A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6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9327-C7B6-9244-8FFA-B396DFC5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C8728-9F4B-FC49-B5AE-A319142E8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60DCA-288B-8448-87E8-94C40F39E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DDB26-60A7-3C4A-8CD0-EEC7ADEB6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BDA50-7A8B-A549-99F5-78769951D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7197E-AAE7-0C42-BCAD-61072F58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7BD6E-3B22-6147-977F-16726AB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EEE69-3BB2-EA47-A796-79EF485F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6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A19D-B71F-7044-A4F4-BD771C6C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BB656-5867-F348-8E8A-4C751DD4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3B02C-7DE5-8740-80D0-412EF39B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37422-A1BC-F143-AB35-59A83691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1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8ADC40-7FD4-0D49-AC66-C7F7F5DC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1D965-4959-EA43-B6BB-B545FC46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F736B-A14F-034E-97A9-14CA658A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481B-5AB8-A84B-89A2-F489B7ED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1193E-A2A7-C94F-8894-35B45973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6C4D6-4CE1-6646-9E54-08AB17F90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6A8A-3220-BA4E-B2CE-E35EBFA6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7E75E-0E36-2243-9A13-AD2FB04F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9356E-D603-034C-9224-6793991B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8368-B2C2-304D-BD5B-B3EF9CD8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39B1D-E15A-C14F-903E-0641F844B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AB775-58CA-6A45-90EA-479CF891D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2D38-70E4-BA4D-B8C4-9A958148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DE390-9895-1F48-9851-6297FC4C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1DE04-67D1-A84E-8317-A0B558C7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0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7FE0-F2CF-BE4C-B57D-F1D7541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84720-A6DB-B147-BB88-6E6BA2E3F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66F9-D60E-5048-881D-EA14ED94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90E0-774A-A94F-B9F9-208E8EAD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DABB3-BE96-4A4B-AA02-14C57B26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0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36FC9-CAC5-5D43-ABFA-D8774FFEF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7BEF3-B6E0-0E46-943C-D3085B11A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CF220-13A9-E546-8F97-29AD06AE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50A34-77F5-E24E-AEE9-AA08BF66D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4AE9-7429-E94A-8EC1-9D742E9F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3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B564B-A58F-C349-9193-3A70F5F6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29BBA-6AC1-3B4D-9E04-1D2A37583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102EA-19AA-F64E-BFC1-8B1EBA6FD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B4FA6-D472-524D-9E47-34EB83AA8DAA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E1C88-BF5C-AB4E-AA82-96D484F07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8CBFB-BD48-3648-AC1C-DE3CA5BE6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F3B31-4B4E-0745-99FA-101ED480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2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MPRoadmap/roadmap/wiki/DB-Schema" TargetMode="External"/><Relationship Id="rId2" Type="http://schemas.openxmlformats.org/officeDocument/2006/relationships/hyperlink" Target="https://github.com/DMPRoadmap/roadmap/wiki/Data-mode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2925-BB5B-0141-971C-17A1C2981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97C1-C553-FD4D-A563-7C3125735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https://github.com/DMPRoadmap/roadmap/wiki/Data-model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https://github.com/DMPRoadmap/roadmap/wiki/DB-Schema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3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6A94-425C-0F60-9C1C-3D08C3E1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Org-admin: template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9C76-D6A9-62D2-2090-D5B17E45C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990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91B2-B612-B546-A15E-5522FF9F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(base)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03597D9E-1201-0274-A2EB-5F37F13782DD}"/>
              </a:ext>
            </a:extLst>
          </p:cNvPr>
          <p:cNvSpPr/>
          <p:nvPr/>
        </p:nvSpPr>
        <p:spPr>
          <a:xfrm>
            <a:off x="830991" y="2403388"/>
            <a:ext cx="2063579" cy="87732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Template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7B1F375C-197F-6077-4E18-4F977A1B1A46}"/>
              </a:ext>
            </a:extLst>
          </p:cNvPr>
          <p:cNvSpPr/>
          <p:nvPr/>
        </p:nvSpPr>
        <p:spPr>
          <a:xfrm>
            <a:off x="5060605" y="2428102"/>
            <a:ext cx="2063580" cy="82172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Section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B11F1C09-E055-8001-3F6F-F011BA0E8D91}"/>
              </a:ext>
            </a:extLst>
          </p:cNvPr>
          <p:cNvSpPr/>
          <p:nvPr/>
        </p:nvSpPr>
        <p:spPr>
          <a:xfrm>
            <a:off x="9297429" y="2403388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Question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B2C0F4A-6520-3F2E-A309-BB27F4664F46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2894570" y="2838964"/>
            <a:ext cx="2166035" cy="30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7AAC18B-FE82-CBD5-6895-25B6695F7C26}"/>
              </a:ext>
            </a:extLst>
          </p:cNvPr>
          <p:cNvCxnSpPr>
            <a:endCxn id="15" idx="1"/>
          </p:cNvCxnSpPr>
          <p:nvPr/>
        </p:nvCxnSpPr>
        <p:spPr>
          <a:xfrm>
            <a:off x="7124185" y="2814250"/>
            <a:ext cx="2173244" cy="92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2A4A990-E216-9284-4F0C-6348030273B6}"/>
              </a:ext>
            </a:extLst>
          </p:cNvPr>
          <p:cNvSpPr txBox="1"/>
          <p:nvPr/>
        </p:nvSpPr>
        <p:spPr>
          <a:xfrm>
            <a:off x="4613568" y="2923305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10C7EB-3263-F87D-495F-23D94F6AF527}"/>
              </a:ext>
            </a:extLst>
          </p:cNvPr>
          <p:cNvSpPr txBox="1"/>
          <p:nvPr/>
        </p:nvSpPr>
        <p:spPr>
          <a:xfrm>
            <a:off x="8866916" y="2964865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553E43-8D46-6672-EB82-DAF80C687F06}"/>
              </a:ext>
            </a:extLst>
          </p:cNvPr>
          <p:cNvSpPr txBox="1"/>
          <p:nvPr/>
        </p:nvSpPr>
        <p:spPr>
          <a:xfrm>
            <a:off x="2992576" y="2964865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4C5D7-098A-A37C-457D-615205036714}"/>
              </a:ext>
            </a:extLst>
          </p:cNvPr>
          <p:cNvSpPr txBox="1"/>
          <p:nvPr/>
        </p:nvSpPr>
        <p:spPr>
          <a:xfrm>
            <a:off x="7162793" y="2937150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2759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0940-66F8-57E8-6B60-A6071084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Question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4F5CDD-C759-9910-44D4-735BE6829EAD}"/>
              </a:ext>
            </a:extLst>
          </p:cNvPr>
          <p:cNvGrpSpPr/>
          <p:nvPr/>
        </p:nvGrpSpPr>
        <p:grpSpPr>
          <a:xfrm>
            <a:off x="5061035" y="1690688"/>
            <a:ext cx="2069930" cy="4040430"/>
            <a:chOff x="5064210" y="1690688"/>
            <a:chExt cx="2069930" cy="4040430"/>
          </a:xfrm>
        </p:grpSpPr>
        <p:sp>
          <p:nvSpPr>
            <p:cNvPr id="5" name="Process 4">
              <a:extLst>
                <a:ext uri="{FF2B5EF4-FFF2-40B4-BE49-F238E27FC236}">
                  <a16:creationId xmlns:a16="http://schemas.microsoft.com/office/drawing/2014/main" id="{9E6815CC-1A7B-94C7-A5D3-D233D04BE9B8}"/>
                </a:ext>
              </a:extLst>
            </p:cNvPr>
            <p:cNvSpPr/>
            <p:nvPr/>
          </p:nvSpPr>
          <p:spPr>
            <a:xfrm>
              <a:off x="5070560" y="3214459"/>
              <a:ext cx="2063580" cy="84025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Question</a:t>
              </a:r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5EEEEB2F-E10C-1AF4-7FC5-F1BB9898D65B}"/>
                </a:ext>
              </a:extLst>
            </p:cNvPr>
            <p:cNvSpPr/>
            <p:nvPr/>
          </p:nvSpPr>
          <p:spPr>
            <a:xfrm>
              <a:off x="5070560" y="4890859"/>
              <a:ext cx="2063580" cy="84025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QuestionFormat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32DE4B70-A813-E6AE-62FD-E3F5ED02EAB2}"/>
                </a:ext>
              </a:extLst>
            </p:cNvPr>
            <p:cNvCxnSpPr>
              <a:stCxn id="6" idx="0"/>
              <a:endCxn id="5" idx="2"/>
            </p:cNvCxnSpPr>
            <p:nvPr/>
          </p:nvCxnSpPr>
          <p:spPr>
            <a:xfrm rot="5400000" flipH="1" flipV="1">
              <a:off x="5684280" y="4472789"/>
              <a:ext cx="836141" cy="1270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B27539-7BB9-2B23-4B3C-A8C8CAC18AFE}"/>
                </a:ext>
              </a:extLst>
            </p:cNvPr>
            <p:cNvSpPr txBox="1"/>
            <p:nvPr/>
          </p:nvSpPr>
          <p:spPr>
            <a:xfrm>
              <a:off x="5790243" y="4535069"/>
              <a:ext cx="3325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6D53A9-7D8D-C932-211A-712C79606BDC}"/>
                </a:ext>
              </a:extLst>
            </p:cNvPr>
            <p:cNvSpPr txBox="1"/>
            <p:nvPr/>
          </p:nvSpPr>
          <p:spPr>
            <a:xfrm>
              <a:off x="6136615" y="4036302"/>
              <a:ext cx="3325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N</a:t>
              </a:r>
            </a:p>
          </p:txBody>
        </p:sp>
        <p:sp>
          <p:nvSpPr>
            <p:cNvPr id="23" name="Process 22">
              <a:extLst>
                <a:ext uri="{FF2B5EF4-FFF2-40B4-BE49-F238E27FC236}">
                  <a16:creationId xmlns:a16="http://schemas.microsoft.com/office/drawing/2014/main" id="{9AA62EE3-4D31-A303-9BDC-1727CE83E481}"/>
                </a:ext>
              </a:extLst>
            </p:cNvPr>
            <p:cNvSpPr/>
            <p:nvPr/>
          </p:nvSpPr>
          <p:spPr>
            <a:xfrm>
              <a:off x="5064210" y="1690688"/>
              <a:ext cx="2063580" cy="84025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QuestionOption</a:t>
              </a:r>
            </a:p>
          </p:txBody>
        </p: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3BE317FD-C9BB-5CC7-8BC0-E6D867B94A0E}"/>
                </a:ext>
              </a:extLst>
            </p:cNvPr>
            <p:cNvCxnSpPr>
              <a:stCxn id="5" idx="0"/>
              <a:endCxn id="23" idx="2"/>
            </p:cNvCxnSpPr>
            <p:nvPr/>
          </p:nvCxnSpPr>
          <p:spPr>
            <a:xfrm rot="16200000" flipV="1">
              <a:off x="5757419" y="2869528"/>
              <a:ext cx="683512" cy="635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E63779-8D8D-2BE6-18D5-EF5EC4C22C29}"/>
                </a:ext>
              </a:extLst>
            </p:cNvPr>
            <p:cNvSpPr txBox="1"/>
            <p:nvPr/>
          </p:nvSpPr>
          <p:spPr>
            <a:xfrm>
              <a:off x="5817951" y="2830951"/>
              <a:ext cx="3325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332BF2-0D59-4F10-F30D-F41A7C4476DE}"/>
                </a:ext>
              </a:extLst>
            </p:cNvPr>
            <p:cNvSpPr txBox="1"/>
            <p:nvPr/>
          </p:nvSpPr>
          <p:spPr>
            <a:xfrm>
              <a:off x="6150466" y="2484587"/>
              <a:ext cx="3325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76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ECA5-7702-E5C1-9C04-7BCD9B8A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Guidance for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1857-B893-8325-6354-4DB02682E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BE" dirty="0"/>
              <a:t>dded directly to question</a:t>
            </a:r>
          </a:p>
          <a:p>
            <a:r>
              <a:rPr lang="en-BE" dirty="0"/>
              <a:t>Added indirectly by assigning themes to questions</a:t>
            </a:r>
          </a:p>
        </p:txBody>
      </p:sp>
    </p:spTree>
    <p:extLst>
      <p:ext uri="{BB962C8B-B14F-4D97-AF65-F5344CB8AC3E}">
        <p14:creationId xmlns:p14="http://schemas.microsoft.com/office/powerpoint/2010/main" val="224382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0BC5-F6C7-4012-3487-14F85F1E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Guidance: directly</a:t>
            </a:r>
          </a:p>
        </p:txBody>
      </p:sp>
      <p:sp>
        <p:nvSpPr>
          <p:cNvPr id="4" name="Process 3">
            <a:extLst>
              <a:ext uri="{FF2B5EF4-FFF2-40B4-BE49-F238E27FC236}">
                <a16:creationId xmlns:a16="http://schemas.microsoft.com/office/drawing/2014/main" id="{6F9C3D02-1BC4-35F6-F630-28FFF8BCED67}"/>
              </a:ext>
            </a:extLst>
          </p:cNvPr>
          <p:cNvSpPr/>
          <p:nvPr/>
        </p:nvSpPr>
        <p:spPr>
          <a:xfrm>
            <a:off x="838200" y="2223279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Question</a:t>
            </a:r>
          </a:p>
        </p:txBody>
      </p:sp>
      <p:sp>
        <p:nvSpPr>
          <p:cNvPr id="5" name="Process 4">
            <a:extLst>
              <a:ext uri="{FF2B5EF4-FFF2-40B4-BE49-F238E27FC236}">
                <a16:creationId xmlns:a16="http://schemas.microsoft.com/office/drawing/2014/main" id="{2E1086AC-962C-F3B9-4EEB-884415FB5B75}"/>
              </a:ext>
            </a:extLst>
          </p:cNvPr>
          <p:cNvSpPr/>
          <p:nvPr/>
        </p:nvSpPr>
        <p:spPr>
          <a:xfrm>
            <a:off x="4232564" y="2223279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Annotation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71900644-9DC2-288B-5383-834DB6A2E4A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01780" y="2643409"/>
            <a:ext cx="1330784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1367BC-4D95-6217-2562-1B62EB8765E8}"/>
              </a:ext>
            </a:extLst>
          </p:cNvPr>
          <p:cNvSpPr txBox="1"/>
          <p:nvPr/>
        </p:nvSpPr>
        <p:spPr>
          <a:xfrm>
            <a:off x="2946892" y="2678551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87C36-0D0B-59E5-27F3-ECD10F742728}"/>
              </a:ext>
            </a:extLst>
          </p:cNvPr>
          <p:cNvSpPr txBox="1"/>
          <p:nvPr/>
        </p:nvSpPr>
        <p:spPr>
          <a:xfrm>
            <a:off x="3930555" y="2276762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31632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E80741A-6BED-8DDE-A2C8-2F7EA600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BE" dirty="0"/>
              <a:t>Guidance: by theme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0D2FA42D-85F3-8EFC-C851-CD34E0477FF8}"/>
              </a:ext>
            </a:extLst>
          </p:cNvPr>
          <p:cNvSpPr/>
          <p:nvPr/>
        </p:nvSpPr>
        <p:spPr>
          <a:xfrm>
            <a:off x="838200" y="2223279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Question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526482F5-B067-8E85-47AB-4E14FEBFFD79}"/>
              </a:ext>
            </a:extLst>
          </p:cNvPr>
          <p:cNvSpPr/>
          <p:nvPr/>
        </p:nvSpPr>
        <p:spPr>
          <a:xfrm>
            <a:off x="7765473" y="2223279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Theme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CDB3AB8A-8A92-26B8-803F-DED695D8670A}"/>
              </a:ext>
            </a:extLst>
          </p:cNvPr>
          <p:cNvSpPr/>
          <p:nvPr/>
        </p:nvSpPr>
        <p:spPr>
          <a:xfrm>
            <a:off x="4301836" y="2223279"/>
            <a:ext cx="2063580" cy="840259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BE" dirty="0">
                <a:solidFill>
                  <a:schemeClr val="accent1">
                    <a:lumMod val="75000"/>
                  </a:schemeClr>
                </a:solidFill>
              </a:rPr>
              <a:t>uestions_themes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3E02C9E-CA4F-23A8-A110-0DD793AAE1DE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2901780" y="2643409"/>
            <a:ext cx="1400056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7343C13-CDAA-3C4F-4229-1FB1579F06F6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rot="10800000">
            <a:off x="6365417" y="2643409"/>
            <a:ext cx="140005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58F7A8-AAA0-F567-3A2F-3C9A9B621FCA}"/>
              </a:ext>
            </a:extLst>
          </p:cNvPr>
          <p:cNvSpPr txBox="1"/>
          <p:nvPr/>
        </p:nvSpPr>
        <p:spPr>
          <a:xfrm>
            <a:off x="2901779" y="2698759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1CE7EF-F142-7107-329B-107839348376}"/>
              </a:ext>
            </a:extLst>
          </p:cNvPr>
          <p:cNvSpPr txBox="1"/>
          <p:nvPr/>
        </p:nvSpPr>
        <p:spPr>
          <a:xfrm>
            <a:off x="7459921" y="2671049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9B075F-2191-A673-D5D8-108309BEE067}"/>
              </a:ext>
            </a:extLst>
          </p:cNvPr>
          <p:cNvSpPr txBox="1"/>
          <p:nvPr/>
        </p:nvSpPr>
        <p:spPr>
          <a:xfrm>
            <a:off x="3885455" y="2712612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BFCFC7-B5C2-CCB6-0E9C-974A2DCEDC99}"/>
              </a:ext>
            </a:extLst>
          </p:cNvPr>
          <p:cNvSpPr txBox="1"/>
          <p:nvPr/>
        </p:nvSpPr>
        <p:spPr>
          <a:xfrm>
            <a:off x="6462400" y="2698752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5904E8AC-95A7-5142-42DE-C4F841115CA7}"/>
              </a:ext>
            </a:extLst>
          </p:cNvPr>
          <p:cNvSpPr/>
          <p:nvPr/>
        </p:nvSpPr>
        <p:spPr>
          <a:xfrm>
            <a:off x="7889412" y="5467618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Guidance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936A3F3D-B745-0776-03C7-B88A9AF19C0D}"/>
              </a:ext>
            </a:extLst>
          </p:cNvPr>
          <p:cNvSpPr/>
          <p:nvPr/>
        </p:nvSpPr>
        <p:spPr>
          <a:xfrm>
            <a:off x="7867879" y="3845448"/>
            <a:ext cx="2063580" cy="840259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accent1">
                    <a:lumMod val="75000"/>
                  </a:schemeClr>
                </a:solidFill>
              </a:rPr>
              <a:t>themes_in_guidance</a:t>
            </a:r>
            <a:endParaRPr lang="en-BE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8883A066-FC3A-122E-941E-F95722C9E473}"/>
              </a:ext>
            </a:extLst>
          </p:cNvPr>
          <p:cNvCxnSpPr>
            <a:stCxn id="22" idx="0"/>
            <a:endCxn id="25" idx="2"/>
          </p:cNvCxnSpPr>
          <p:nvPr/>
        </p:nvCxnSpPr>
        <p:spPr>
          <a:xfrm rot="16200000" flipV="1">
            <a:off x="8519481" y="5065896"/>
            <a:ext cx="781911" cy="215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CCDCE1D4-5C1C-4933-6853-65D4549173DA}"/>
              </a:ext>
            </a:extLst>
          </p:cNvPr>
          <p:cNvCxnSpPr>
            <a:stCxn id="11" idx="2"/>
            <a:endCxn id="25" idx="0"/>
          </p:cNvCxnSpPr>
          <p:nvPr/>
        </p:nvCxnSpPr>
        <p:spPr>
          <a:xfrm rot="16200000" flipH="1">
            <a:off x="8457511" y="3403290"/>
            <a:ext cx="781910" cy="102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806C0B0-F38E-4252-A189-172A5A216550}"/>
              </a:ext>
            </a:extLst>
          </p:cNvPr>
          <p:cNvSpPr txBox="1"/>
          <p:nvPr/>
        </p:nvSpPr>
        <p:spPr>
          <a:xfrm>
            <a:off x="8499014" y="3072835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7327F3-C114-BB97-852A-4DA7DA8B8A4A}"/>
              </a:ext>
            </a:extLst>
          </p:cNvPr>
          <p:cNvSpPr txBox="1"/>
          <p:nvPr/>
        </p:nvSpPr>
        <p:spPr>
          <a:xfrm>
            <a:off x="8609849" y="5109459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E8BC0-3E8B-F5B6-790F-C65303CD6382}"/>
              </a:ext>
            </a:extLst>
          </p:cNvPr>
          <p:cNvSpPr txBox="1"/>
          <p:nvPr/>
        </p:nvSpPr>
        <p:spPr>
          <a:xfrm>
            <a:off x="8997782" y="3488464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D199C0-5597-7579-BEC5-233D8E68CAEB}"/>
              </a:ext>
            </a:extLst>
          </p:cNvPr>
          <p:cNvSpPr txBox="1"/>
          <p:nvPr/>
        </p:nvSpPr>
        <p:spPr>
          <a:xfrm>
            <a:off x="9025491" y="4749226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13200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EF4F-FDD7-8840-840B-AF268AC0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Plan creation (wizard)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56F35-BBCA-C285-7ACB-148A5D42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b="1" u="sng" dirty="0"/>
              <a:t>Plan is assigned a template_id</a:t>
            </a:r>
            <a:r>
              <a:rPr lang="en-BE" dirty="0"/>
              <a:t>.</a:t>
            </a:r>
          </a:p>
          <a:p>
            <a:r>
              <a:rPr lang="en-BE" dirty="0"/>
              <a:t>Plan is assigned a user_id</a:t>
            </a:r>
          </a:p>
          <a:p>
            <a:r>
              <a:rPr lang="en-BE" dirty="0"/>
              <a:t>Plan is assigned org_id</a:t>
            </a:r>
          </a:p>
          <a:p>
            <a:r>
              <a:rPr lang="en-BE" dirty="0"/>
              <a:t>Plan is assigned multiple collaborators (table roles) (user permissions)</a:t>
            </a:r>
          </a:p>
          <a:p>
            <a:r>
              <a:rPr lang="en-BE" dirty="0"/>
              <a:t>Plan is assigned multiple guidance groups</a:t>
            </a:r>
          </a:p>
        </p:txBody>
      </p:sp>
    </p:spTree>
    <p:extLst>
      <p:ext uri="{BB962C8B-B14F-4D97-AF65-F5344CB8AC3E}">
        <p14:creationId xmlns:p14="http://schemas.microsoft.com/office/powerpoint/2010/main" val="350019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EB81-02AF-ECAC-A12A-015F3D45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Caveat: relation plan - template</a:t>
            </a:r>
          </a:p>
        </p:txBody>
      </p:sp>
      <p:sp>
        <p:nvSpPr>
          <p:cNvPr id="4" name="Process 3">
            <a:extLst>
              <a:ext uri="{FF2B5EF4-FFF2-40B4-BE49-F238E27FC236}">
                <a16:creationId xmlns:a16="http://schemas.microsoft.com/office/drawing/2014/main" id="{1BABCA56-B000-E4CD-AC85-7D5AD01E00E5}"/>
              </a:ext>
            </a:extLst>
          </p:cNvPr>
          <p:cNvSpPr/>
          <p:nvPr/>
        </p:nvSpPr>
        <p:spPr>
          <a:xfrm>
            <a:off x="838200" y="2223279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Plan</a:t>
            </a:r>
          </a:p>
        </p:txBody>
      </p:sp>
      <p:sp>
        <p:nvSpPr>
          <p:cNvPr id="5" name="Process 4">
            <a:extLst>
              <a:ext uri="{FF2B5EF4-FFF2-40B4-BE49-F238E27FC236}">
                <a16:creationId xmlns:a16="http://schemas.microsoft.com/office/drawing/2014/main" id="{1A3EA07A-10AE-8454-2DA6-9D6B3B52B859}"/>
              </a:ext>
            </a:extLst>
          </p:cNvPr>
          <p:cNvSpPr/>
          <p:nvPr/>
        </p:nvSpPr>
        <p:spPr>
          <a:xfrm>
            <a:off x="9290220" y="2223278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Answer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8032B559-373E-9832-969F-162614D1DB6D}"/>
              </a:ext>
            </a:extLst>
          </p:cNvPr>
          <p:cNvSpPr/>
          <p:nvPr/>
        </p:nvSpPr>
        <p:spPr>
          <a:xfrm>
            <a:off x="823782" y="4259897"/>
            <a:ext cx="2063579" cy="87732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Template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351C0765-1D40-16A9-BCA2-714D3400C791}"/>
              </a:ext>
            </a:extLst>
          </p:cNvPr>
          <p:cNvSpPr/>
          <p:nvPr/>
        </p:nvSpPr>
        <p:spPr>
          <a:xfrm>
            <a:off x="5064210" y="4284611"/>
            <a:ext cx="2063580" cy="82172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Section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1D85C99D-A720-804F-B47C-21BCB3D58A6E}"/>
              </a:ext>
            </a:extLst>
          </p:cNvPr>
          <p:cNvSpPr/>
          <p:nvPr/>
        </p:nvSpPr>
        <p:spPr>
          <a:xfrm>
            <a:off x="9290220" y="4259897"/>
            <a:ext cx="2063580" cy="84025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Question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EFFAE442-F39F-64DE-642E-A09B8E91BA05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887361" y="4695473"/>
            <a:ext cx="2176849" cy="30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3A5A337-00A6-D2BE-B227-768103467DD1}"/>
              </a:ext>
            </a:extLst>
          </p:cNvPr>
          <p:cNvCxnSpPr>
            <a:endCxn id="9" idx="1"/>
          </p:cNvCxnSpPr>
          <p:nvPr/>
        </p:nvCxnSpPr>
        <p:spPr>
          <a:xfrm>
            <a:off x="7116976" y="4670759"/>
            <a:ext cx="2173244" cy="92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FA5A9C-13CF-82AE-4247-C392240584A8}"/>
              </a:ext>
            </a:extLst>
          </p:cNvPr>
          <p:cNvSpPr txBox="1"/>
          <p:nvPr/>
        </p:nvSpPr>
        <p:spPr>
          <a:xfrm>
            <a:off x="4606359" y="4779814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EE989-2FDC-A38F-2507-51F3EAF238C4}"/>
              </a:ext>
            </a:extLst>
          </p:cNvPr>
          <p:cNvSpPr txBox="1"/>
          <p:nvPr/>
        </p:nvSpPr>
        <p:spPr>
          <a:xfrm>
            <a:off x="8859707" y="4821374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977BE-66EF-0149-4418-94E1702E7707}"/>
              </a:ext>
            </a:extLst>
          </p:cNvPr>
          <p:cNvSpPr txBox="1"/>
          <p:nvPr/>
        </p:nvSpPr>
        <p:spPr>
          <a:xfrm>
            <a:off x="2985367" y="4821374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787B7-76F9-C91E-BBE3-76697F6329C6}"/>
              </a:ext>
            </a:extLst>
          </p:cNvPr>
          <p:cNvSpPr txBox="1"/>
          <p:nvPr/>
        </p:nvSpPr>
        <p:spPr>
          <a:xfrm>
            <a:off x="7155584" y="4793659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B3E7662-B395-BDBE-8974-9EABA7A3B816}"/>
              </a:ext>
            </a:extLst>
          </p:cNvPr>
          <p:cNvCxnSpPr>
            <a:stCxn id="7" idx="0"/>
            <a:endCxn id="4" idx="2"/>
          </p:cNvCxnSpPr>
          <p:nvPr/>
        </p:nvCxnSpPr>
        <p:spPr>
          <a:xfrm rot="5400000" flipH="1" flipV="1">
            <a:off x="1264602" y="3654509"/>
            <a:ext cx="1196359" cy="144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C8D073F-DA16-4AA4-1B92-CBE6C78A6A8B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901780" y="2643408"/>
            <a:ext cx="638844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41554FD9-C8BF-E272-7B4A-1908F0A7B1F6}"/>
              </a:ext>
            </a:extLst>
          </p:cNvPr>
          <p:cNvCxnSpPr>
            <a:stCxn id="9" idx="0"/>
            <a:endCxn id="5" idx="2"/>
          </p:cNvCxnSpPr>
          <p:nvPr/>
        </p:nvCxnSpPr>
        <p:spPr>
          <a:xfrm rot="5400000" flipH="1" flipV="1">
            <a:off x="9723830" y="3661717"/>
            <a:ext cx="119636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3D85B08-FE89-451E-7C35-664176E4CC58}"/>
              </a:ext>
            </a:extLst>
          </p:cNvPr>
          <p:cNvSpPr txBox="1"/>
          <p:nvPr/>
        </p:nvSpPr>
        <p:spPr>
          <a:xfrm>
            <a:off x="2985362" y="2673926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E21FA0-0FB4-3641-9AEA-754EB1EB8893}"/>
              </a:ext>
            </a:extLst>
          </p:cNvPr>
          <p:cNvSpPr txBox="1"/>
          <p:nvPr/>
        </p:nvSpPr>
        <p:spPr>
          <a:xfrm>
            <a:off x="1489076" y="3851556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F2EA70-BFA5-D8D7-CFCE-50F38EE18004}"/>
              </a:ext>
            </a:extLst>
          </p:cNvPr>
          <p:cNvSpPr txBox="1"/>
          <p:nvPr/>
        </p:nvSpPr>
        <p:spPr>
          <a:xfrm>
            <a:off x="1973985" y="3144970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61A746-5635-4D18-B364-3D7800C02975}"/>
              </a:ext>
            </a:extLst>
          </p:cNvPr>
          <p:cNvSpPr txBox="1"/>
          <p:nvPr/>
        </p:nvSpPr>
        <p:spPr>
          <a:xfrm>
            <a:off x="8901247" y="2272122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0BC188-01E5-DD06-5488-235949BE4688}"/>
              </a:ext>
            </a:extLst>
          </p:cNvPr>
          <p:cNvSpPr txBox="1"/>
          <p:nvPr/>
        </p:nvSpPr>
        <p:spPr>
          <a:xfrm>
            <a:off x="10480668" y="3103391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6FFC90-48A0-2D96-A793-5555EAEF3CD6}"/>
              </a:ext>
            </a:extLst>
          </p:cNvPr>
          <p:cNvSpPr txBox="1"/>
          <p:nvPr/>
        </p:nvSpPr>
        <p:spPr>
          <a:xfrm>
            <a:off x="9898785" y="3837691"/>
            <a:ext cx="3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0239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D7D5-D9A6-5F9F-E09D-D181635C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Caveat: relation plan 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4B99-5DA3-CE08-7D08-BF9419FA9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Plan cannot exist without template</a:t>
            </a:r>
          </a:p>
          <a:p>
            <a:r>
              <a:rPr lang="en-BE" dirty="0"/>
              <a:t>Template cannot/must not change when plan uses it</a:t>
            </a:r>
          </a:p>
        </p:txBody>
      </p:sp>
    </p:spTree>
    <p:extLst>
      <p:ext uri="{BB962C8B-B14F-4D97-AF65-F5344CB8AC3E}">
        <p14:creationId xmlns:p14="http://schemas.microsoft.com/office/powerpoint/2010/main" val="1073451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C082-7E76-9CD1-57D4-46CA2C65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Solution 1: publishing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559F4-9ED9-F6B2-6790-8763F0EE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Every new template has </a:t>
            </a:r>
            <a:r>
              <a:rPr lang="en-BE" b="1" dirty="0"/>
              <a:t>published</a:t>
            </a:r>
            <a:r>
              <a:rPr lang="en-BE" dirty="0"/>
              <a:t> set to </a:t>
            </a:r>
            <a:r>
              <a:rPr lang="en-BE" b="1" dirty="0"/>
              <a:t>false</a:t>
            </a:r>
            <a:r>
              <a:rPr lang="en-BE" dirty="0"/>
              <a:t> and is therefore not selectable from the plan creation wizard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12440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B8F0-3382-AEFC-47FC-34186312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Solution 2: soft delete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4C23-0F48-F49B-285C-BFC0246FA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Templates cannot be deleted. They are archived (archived=true)</a:t>
            </a:r>
          </a:p>
        </p:txBody>
      </p:sp>
    </p:spTree>
    <p:extLst>
      <p:ext uri="{BB962C8B-B14F-4D97-AF65-F5344CB8AC3E}">
        <p14:creationId xmlns:p14="http://schemas.microsoft.com/office/powerpoint/2010/main" val="385248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DEAC-85A9-7C23-3C83-74DBE2EB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Solution 3: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52AF-D6DB-3F21-535D-4A21F1AB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Avoid conflict by copying template structure (section-questio—theme-guidance) to a new unpublished template, and after that apply changes on that new template.</a:t>
            </a:r>
          </a:p>
          <a:p>
            <a:r>
              <a:rPr lang="en-BE" dirty="0"/>
              <a:t>Some background about copying templates ..</a:t>
            </a:r>
          </a:p>
        </p:txBody>
      </p:sp>
    </p:spTree>
    <p:extLst>
      <p:ext uri="{BB962C8B-B14F-4D97-AF65-F5344CB8AC3E}">
        <p14:creationId xmlns:p14="http://schemas.microsoft.com/office/powerpoint/2010/main" val="390755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D618-ED8C-054F-9FD0-6B122992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attributes for templates important for copying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A8525-5B78-8449-AE69-E8DFDCC8B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family_id</a:t>
            </a:r>
            <a:endParaRPr lang="en-US" dirty="0"/>
          </a:p>
          <a:p>
            <a:r>
              <a:rPr lang="en-US" dirty="0"/>
              <a:t>version</a:t>
            </a:r>
          </a:p>
          <a:p>
            <a:r>
              <a:rPr lang="en-US" dirty="0" err="1"/>
              <a:t>customization_of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3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02C2-9715-384A-A575-9C825580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copy template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1B8B2-9B96-4B4A-85D7-FCC1BADF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Via “copy template”</a:t>
            </a:r>
          </a:p>
          <a:p>
            <a:r>
              <a:rPr lang="en-US" dirty="0"/>
              <a:t>Exact copy of template, all sections, all questions, and themes</a:t>
            </a:r>
          </a:p>
          <a:p>
            <a:r>
              <a:rPr lang="en-US" dirty="0"/>
              <a:t>attribute </a:t>
            </a:r>
            <a:r>
              <a:rPr lang="en-US" b="1" dirty="0" err="1"/>
              <a:t>family</a:t>
            </a:r>
            <a:r>
              <a:rPr lang="en-US" dirty="0" err="1"/>
              <a:t>_id</a:t>
            </a:r>
            <a:r>
              <a:rPr lang="en-US" dirty="0"/>
              <a:t>  = new unique value</a:t>
            </a:r>
          </a:p>
          <a:p>
            <a:r>
              <a:rPr lang="en-US" dirty="0"/>
              <a:t>attribute </a:t>
            </a:r>
            <a:r>
              <a:rPr lang="en-US" b="1" dirty="0"/>
              <a:t>version</a:t>
            </a:r>
            <a:r>
              <a:rPr lang="en-US" dirty="0"/>
              <a:t> </a:t>
            </a:r>
            <a:r>
              <a:rPr lang="en-US" b="1" dirty="0"/>
              <a:t>= 0</a:t>
            </a:r>
          </a:p>
          <a:p>
            <a:r>
              <a:rPr lang="en-US" dirty="0"/>
              <a:t>attribute </a:t>
            </a:r>
            <a:r>
              <a:rPr lang="en-US" b="1" dirty="0" err="1"/>
              <a:t>customization_of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NULL</a:t>
            </a:r>
          </a:p>
          <a:p>
            <a:r>
              <a:rPr lang="en-US" dirty="0"/>
              <a:t>attribute </a:t>
            </a:r>
            <a:r>
              <a:rPr lang="en-US" b="1" dirty="0"/>
              <a:t>published</a:t>
            </a:r>
            <a:r>
              <a:rPr lang="en-US" dirty="0"/>
              <a:t> = </a:t>
            </a:r>
            <a:r>
              <a:rPr lang="en-US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105812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F00F-E1FD-3147-A321-762A1EA7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published template assigned to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995BA-BCE4-AD4B-80BC-55C46FE79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Make raw copy of template with, but ..</a:t>
            </a:r>
          </a:p>
          <a:p>
            <a:pPr lvl="1"/>
            <a:r>
              <a:rPr lang="en-US" dirty="0" err="1"/>
              <a:t>new_template.family_id</a:t>
            </a:r>
            <a:r>
              <a:rPr lang="en-US" dirty="0"/>
              <a:t> = </a:t>
            </a:r>
            <a:r>
              <a:rPr lang="en-US" dirty="0" err="1"/>
              <a:t>old_template.family_id</a:t>
            </a:r>
            <a:endParaRPr lang="en-US" dirty="0"/>
          </a:p>
          <a:p>
            <a:pPr lvl="1"/>
            <a:r>
              <a:rPr lang="en-US" dirty="0" err="1"/>
              <a:t>new_template.version</a:t>
            </a:r>
            <a:r>
              <a:rPr lang="en-US" dirty="0"/>
              <a:t> = </a:t>
            </a:r>
            <a:r>
              <a:rPr lang="en-US" dirty="0" err="1"/>
              <a:t>old_template.version</a:t>
            </a:r>
            <a:r>
              <a:rPr lang="en-US" dirty="0"/>
              <a:t> +1</a:t>
            </a:r>
          </a:p>
          <a:p>
            <a:pPr lvl="1"/>
            <a:r>
              <a:rPr lang="en-US" dirty="0" err="1"/>
              <a:t>new_template.published</a:t>
            </a:r>
            <a:r>
              <a:rPr lang="en-US" dirty="0"/>
              <a:t> = false</a:t>
            </a:r>
          </a:p>
          <a:p>
            <a:r>
              <a:rPr lang="en-US" dirty="0"/>
              <a:t>Add new question to new unpublished template</a:t>
            </a:r>
          </a:p>
          <a:p>
            <a:r>
              <a:rPr lang="en-US" dirty="0"/>
              <a:t>Important: happens transparently (only visible in 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r>
              <a:rPr lang="en-US" dirty="0"/>
              <a:t>templates with same </a:t>
            </a:r>
            <a:r>
              <a:rPr lang="en-US" dirty="0" err="1"/>
              <a:t>family_id</a:t>
            </a:r>
            <a:r>
              <a:rPr lang="en-US" dirty="0"/>
              <a:t> are all versions of the same template</a:t>
            </a:r>
          </a:p>
          <a:p>
            <a:r>
              <a:rPr lang="en-US" dirty="0"/>
              <a:t>with template family, on one can/should be published. Publishing a unpublished (latest) template, unpublished the </a:t>
            </a:r>
            <a:r>
              <a:rPr lang="en-US"/>
              <a:t>previous published 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0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0BFC-0457-6644-BB89-4864177E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Customize (funder)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D0866-5EFF-2748-9207-2D47C785D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raw copy of (funder) Template, but</a:t>
            </a:r>
          </a:p>
          <a:p>
            <a:pPr lvl="1"/>
            <a:r>
              <a:rPr lang="en-US" b="1" dirty="0" err="1"/>
              <a:t>new_template.family_id</a:t>
            </a:r>
            <a:r>
              <a:rPr lang="en-US" b="1" dirty="0"/>
              <a:t> = </a:t>
            </a:r>
            <a:r>
              <a:rPr lang="en-US" b="1" dirty="0" err="1"/>
              <a:t>new_id</a:t>
            </a:r>
            <a:endParaRPr lang="en-US" b="1" dirty="0"/>
          </a:p>
          <a:p>
            <a:pPr lvl="1"/>
            <a:r>
              <a:rPr lang="en-US" b="1" dirty="0" err="1"/>
              <a:t>new_template.version</a:t>
            </a:r>
            <a:r>
              <a:rPr lang="en-US" b="1" dirty="0"/>
              <a:t> = 0</a:t>
            </a:r>
          </a:p>
          <a:p>
            <a:pPr lvl="1"/>
            <a:r>
              <a:rPr lang="en-US" b="1" dirty="0" err="1"/>
              <a:t>new_template.published</a:t>
            </a:r>
            <a:r>
              <a:rPr lang="en-US" b="1" dirty="0"/>
              <a:t> = false</a:t>
            </a:r>
          </a:p>
          <a:p>
            <a:pPr lvl="1"/>
            <a:r>
              <a:rPr lang="en-US" b="1" dirty="0" err="1"/>
              <a:t>new_templation.customization_of</a:t>
            </a:r>
            <a:r>
              <a:rPr lang="en-US" b="1" dirty="0"/>
              <a:t> = </a:t>
            </a:r>
            <a:r>
              <a:rPr lang="en-US" b="1" dirty="0" err="1"/>
              <a:t>old_template.family_id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2233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D5C9-3813-A929-CCCF-8E42CAA2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Caveat: update theme not versioned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E6F71-F45C-E0E0-6171-97889EF0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add a guidance to a theme, and you it in every plan that uses that theme.</a:t>
            </a:r>
          </a:p>
          <a:p>
            <a:r>
              <a:rPr lang="en-BE" dirty="0"/>
              <a:t>delete a guidance from a theme, and it dissappears from every plan that uses that theme</a:t>
            </a:r>
          </a:p>
          <a:p>
            <a:r>
              <a:rPr lang="en-BE" dirty="0"/>
              <a:t>Problem? Guidance by </a:t>
            </a:r>
            <a:r>
              <a:rPr lang="en-BE"/>
              <a:t>guidance group is also dynamic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7404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749</Words>
  <Application>Microsoft Macintosh PowerPoint</Application>
  <PresentationFormat>Widescreen</PresentationFormat>
  <Paragraphs>125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Structure roadmap</vt:lpstr>
      <vt:lpstr>Org-admin: template creation</vt:lpstr>
      <vt:lpstr>Template (base)</vt:lpstr>
      <vt:lpstr>Question</vt:lpstr>
      <vt:lpstr>Guidance for questions</vt:lpstr>
      <vt:lpstr>Guidance: directly</vt:lpstr>
      <vt:lpstr>Guidance: by theme</vt:lpstr>
      <vt:lpstr>Plan creation (wizard)</vt:lpstr>
      <vt:lpstr>Caveat: relation plan - template</vt:lpstr>
      <vt:lpstr>Caveat: relation plan - template</vt:lpstr>
      <vt:lpstr>Solution 1: publishing</vt:lpstr>
      <vt:lpstr>Solution 2: soft delete template</vt:lpstr>
      <vt:lpstr>Solution 3: versioning</vt:lpstr>
      <vt:lpstr>Special attributes for templates important for copying</vt:lpstr>
      <vt:lpstr>Raw copy template</vt:lpstr>
      <vt:lpstr>Update published template assigned to plan</vt:lpstr>
      <vt:lpstr>Customize (funder) template</vt:lpstr>
      <vt:lpstr>Caveat: update theme not versioned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Oude dmponline</dc:title>
  <dc:creator>Nicolas Franck</dc:creator>
  <cp:lastModifiedBy>Nicolas Franck</cp:lastModifiedBy>
  <cp:revision>64</cp:revision>
  <dcterms:created xsi:type="dcterms:W3CDTF">2021-03-09T08:49:11Z</dcterms:created>
  <dcterms:modified xsi:type="dcterms:W3CDTF">2025-10-02T06:48:00Z</dcterms:modified>
</cp:coreProperties>
</file>