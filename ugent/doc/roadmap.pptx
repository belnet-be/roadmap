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70" r:id="rId3"/>
    <p:sldId id="259" r:id="rId4"/>
    <p:sldId id="267" r:id="rId5"/>
    <p:sldId id="269" r:id="rId6"/>
    <p:sldId id="271" r:id="rId7"/>
    <p:sldId id="268" r:id="rId8"/>
    <p:sldId id="272" r:id="rId9"/>
    <p:sldId id="274" r:id="rId10"/>
    <p:sldId id="273" r:id="rId11"/>
    <p:sldId id="275" r:id="rId12"/>
    <p:sldId id="277" r:id="rId13"/>
    <p:sldId id="276" r:id="rId14"/>
    <p:sldId id="262" r:id="rId15"/>
    <p:sldId id="263" r:id="rId16"/>
    <p:sldId id="265" r:id="rId17"/>
    <p:sldId id="26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74795"/>
  </p:normalViewPr>
  <p:slideViewPr>
    <p:cSldViewPr snapToGrid="0" snapToObjects="1">
      <p:cViewPr varScale="1">
        <p:scale>
          <a:sx n="93" d="100"/>
          <a:sy n="93" d="100"/>
        </p:scale>
        <p:origin x="65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2A5CE7-9F64-334A-AF08-0030E7084C74}" type="datetimeFigureOut">
              <a:rPr lang="en-BE" smtClean="0"/>
              <a:t>01/10/2025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72C6DF-025B-1741-B529-51F4E39CCC8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80012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54193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BE" dirty="0"/>
              <a:t>Every question has a type, determined via foreign key question_format_id. Possible format are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Text field</a:t>
            </a:r>
            <a:endParaRPr lang="en-BE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Text area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Checkbox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Radio buttons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Dropdown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Some of these question formats are option based (attribute </a:t>
            </a:r>
            <a:r>
              <a:rPr lang="en-GB" dirty="0" err="1"/>
              <a:t>option_based</a:t>
            </a:r>
            <a:r>
              <a:rPr lang="en-GB" dirty="0"/>
              <a:t> is true). E.g. “Radio buttons”. Option based question have multiple records in </a:t>
            </a:r>
            <a:r>
              <a:rPr lang="en-GB" dirty="0" err="1"/>
              <a:t>question_options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65195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BE" dirty="0"/>
              <a:t>Every question can have multiple guidances, directly added to a question by an org-admin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BE" dirty="0"/>
              <a:t>These guidances are stored in table annotations with column set to 1 (value 0 is for example_answer). For enum translation, see annotation.rb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418661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BE" dirty="0"/>
              <a:t>Every guidance can be assigned to one ore more themes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BE" dirty="0"/>
              <a:t>Every question can be assigned to one or more themes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BE" dirty="0"/>
              <a:t>Assiging themes to questions therefore means that all guidances from those themes are added as guidances. E.g. assigning theme “Data Collection” to a question, means that that question will show all guidances from that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660247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A</a:t>
            </a:r>
            <a:r>
              <a:rPr lang="en-BE" dirty="0"/>
              <a:t> plan inherits its structure (sections, question, example answers, guidances ..) from the template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051872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BE" dirty="0"/>
              <a:t>Plan get its full structure (sections, questions, example answers and guidances) via its template, and there cannot exist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10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857888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C6DF-025B-1741-B529-51F4E39CCC8E}" type="slidenum">
              <a:rPr lang="en-BE" smtClean="0"/>
              <a:t>15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218084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49CA-DED1-D644-A21B-42E868856D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DC8E5E-04D6-504A-B0F2-038A96861C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9197EE-775A-054C-A029-8580BF561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A10E93-9F86-834A-97CE-13C77EE6D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2F863-4220-1F42-A40E-07E76E88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266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249C7-EDE8-9B45-94A3-9E4968772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06D17-2E9D-CF4C-B8A5-0935D6C6C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30FED-838F-BE46-943C-B42A5C26A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BCE7F-AFAB-B044-B51F-A0B15E6E2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40E62-36A8-4A41-A1A6-174C01135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7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0DE71-F571-6C46-8BC9-667F8028C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E877B-72A3-D143-B4E6-811BDE4A6E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4C22C8-C1F7-F544-A668-1CE529926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B1AE6-E22E-E444-8F36-18A6153CC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31177-7571-1846-89AA-F0AA69084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400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92E77-56D1-5846-A258-7D6713F68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84C91E-5D73-DB4B-8CF6-205C9C8015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B89F38-2E03-5742-8FCE-0DC5477A96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7DF0B7-9932-0F4B-BA09-DE7FB187E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17112E-1E1D-1A48-9FCD-29C041B91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F8D2E5-FDAB-9045-AD1F-A627157A8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764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69327-C7B6-9244-8FFA-B396DFC59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4C8728-9F4B-FC49-B5AE-A319142E8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60DCA-288B-8448-87E8-94C40F39E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CDDB26-60A7-3C4A-8CD0-EEC7ADEB6A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FBDA50-7A8B-A549-99F5-78769951D3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77197E-AAE7-0C42-BCAD-61072F58C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27BD6E-3B22-6147-977F-16726AB78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CEEE69-3BB2-EA47-A796-79EF485FF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564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9A19D-B71F-7044-A4F4-BD771C6C8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0BB656-5867-F348-8E8A-4C751DD44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3B02C-7DE5-8740-80D0-412EF39B3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637422-A1BC-F143-AB35-59A836914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811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8ADC40-7FD4-0D49-AC66-C7F7F5DC5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F1D965-4959-EA43-B6BB-B545FC462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F736B-A14F-034E-97A9-14CA658A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716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A481B-5AB8-A84B-89A2-F489B7ED6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F1193E-A2A7-C94F-8894-35B459731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6C4D6-4CE1-6646-9E54-08AB17F904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06A8A-3220-BA4E-B2CE-E35EBFA6F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37E75E-0E36-2243-9A13-AD2FB04F9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09356E-D603-034C-9224-6793991B3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651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E8368-B2C2-304D-BD5B-B3EF9CD88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F39B1D-E15A-C14F-903E-0641F844B9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AB775-58CA-6A45-90EA-479CF891D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12D38-70E4-BA4D-B8C4-9A958148A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DE390-9895-1F48-9851-6297FC4C8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31DE04-67D1-A84E-8317-A0B558C72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401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77FE0-F2CF-BE4C-B57D-F1D754130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A84720-A6DB-B147-BB88-6E6BA2E3F2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B66F9-D60E-5048-881D-EA14ED944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7390E0-774A-A94F-B9F9-208E8EAD6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4DABB3-BE96-4A4B-AA02-14C57B261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80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836FC9-CAC5-5D43-ABFA-D8774FFEF4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47BEF3-B6E0-0E46-943C-D3085B11AB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CF220-13A9-E546-8F97-29AD06AEF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C50A34-77F5-E24E-AEE9-AA08BF66D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594AE9-7429-E94A-8EC1-9D742E9F6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936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8B564B-A58F-C349-9193-3A70F5F67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29BBA-6AC1-3B4D-9E04-1D2A37583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5102EA-19AA-F64E-BFC1-8B1EBA6FDF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BB4FA6-D472-524D-9E47-34EB83AA8DAA}" type="datetimeFigureOut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AE1C88-BF5C-AB4E-AA82-96D484F073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F8CBFB-BD48-3648-AC1C-DE3CA5BE6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FF3B31-4B4E-0745-99FA-101ED4809D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828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MPRoadmap/roadmap/wiki/DB-Schema" TargetMode="External"/><Relationship Id="rId2" Type="http://schemas.openxmlformats.org/officeDocument/2006/relationships/hyperlink" Target="https://github.com/DMPRoadmap/roadmap/wiki/Data-model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12925-BB5B-0141-971C-17A1C29813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Structure roadmap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DC97C1-C553-FD4D-A563-7C3125735F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https://github.com/DMPRoadmap/roadmap/wiki/Data-model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https://github.com/DMPRoadmap/roadmap/wiki/DB-Schema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1739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F6A94-425C-0F60-9C1C-3D08C3E10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Org-admin: template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49C76-D6A9-62D2-2090-D5B17E45CA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9900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A91B2-B612-B546-A15E-5522FF9F1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(base)</a:t>
            </a:r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03597D9E-1201-0274-A2EB-5F37F13782DD}"/>
              </a:ext>
            </a:extLst>
          </p:cNvPr>
          <p:cNvSpPr/>
          <p:nvPr/>
        </p:nvSpPr>
        <p:spPr>
          <a:xfrm>
            <a:off x="830991" y="2403388"/>
            <a:ext cx="2063579" cy="87732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Template</a:t>
            </a:r>
          </a:p>
        </p:txBody>
      </p:sp>
      <p:sp>
        <p:nvSpPr>
          <p:cNvPr id="13" name="Process 12">
            <a:extLst>
              <a:ext uri="{FF2B5EF4-FFF2-40B4-BE49-F238E27FC236}">
                <a16:creationId xmlns:a16="http://schemas.microsoft.com/office/drawing/2014/main" id="{7B1F375C-197F-6077-4E18-4F977A1B1A46}"/>
              </a:ext>
            </a:extLst>
          </p:cNvPr>
          <p:cNvSpPr/>
          <p:nvPr/>
        </p:nvSpPr>
        <p:spPr>
          <a:xfrm>
            <a:off x="5060605" y="2428102"/>
            <a:ext cx="2063580" cy="82172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Section</a:t>
            </a:r>
          </a:p>
        </p:txBody>
      </p:sp>
      <p:sp>
        <p:nvSpPr>
          <p:cNvPr id="15" name="Process 14">
            <a:extLst>
              <a:ext uri="{FF2B5EF4-FFF2-40B4-BE49-F238E27FC236}">
                <a16:creationId xmlns:a16="http://schemas.microsoft.com/office/drawing/2014/main" id="{B11F1C09-E055-8001-3F6F-F011BA0E8D91}"/>
              </a:ext>
            </a:extLst>
          </p:cNvPr>
          <p:cNvSpPr/>
          <p:nvPr/>
        </p:nvSpPr>
        <p:spPr>
          <a:xfrm>
            <a:off x="9297429" y="2403388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Question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FB2C0F4A-6520-3F2E-A309-BB27F4664F46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2894570" y="2838964"/>
            <a:ext cx="2166035" cy="308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17AAC18B-FE82-CBD5-6895-25B6695F7C26}"/>
              </a:ext>
            </a:extLst>
          </p:cNvPr>
          <p:cNvCxnSpPr>
            <a:endCxn id="15" idx="1"/>
          </p:cNvCxnSpPr>
          <p:nvPr/>
        </p:nvCxnSpPr>
        <p:spPr>
          <a:xfrm>
            <a:off x="7124185" y="2814250"/>
            <a:ext cx="2173244" cy="926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2A4A990-E216-9284-4F0C-6348030273B6}"/>
              </a:ext>
            </a:extLst>
          </p:cNvPr>
          <p:cNvSpPr txBox="1"/>
          <p:nvPr/>
        </p:nvSpPr>
        <p:spPr>
          <a:xfrm>
            <a:off x="4613568" y="2923305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10C7EB-3263-F87D-495F-23D94F6AF527}"/>
              </a:ext>
            </a:extLst>
          </p:cNvPr>
          <p:cNvSpPr txBox="1"/>
          <p:nvPr/>
        </p:nvSpPr>
        <p:spPr>
          <a:xfrm>
            <a:off x="8866916" y="2964865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553E43-8D46-6672-EB82-DAF80C687F06}"/>
              </a:ext>
            </a:extLst>
          </p:cNvPr>
          <p:cNvSpPr txBox="1"/>
          <p:nvPr/>
        </p:nvSpPr>
        <p:spPr>
          <a:xfrm>
            <a:off x="2992576" y="2964865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0D4C5D7-098A-A37C-457D-615205036714}"/>
              </a:ext>
            </a:extLst>
          </p:cNvPr>
          <p:cNvSpPr txBox="1"/>
          <p:nvPr/>
        </p:nvSpPr>
        <p:spPr>
          <a:xfrm>
            <a:off x="7162793" y="2937150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527591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40940-66F8-57E8-6B60-A6071084E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Question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84F5CDD-C759-9910-44D4-735BE6829EAD}"/>
              </a:ext>
            </a:extLst>
          </p:cNvPr>
          <p:cNvGrpSpPr/>
          <p:nvPr/>
        </p:nvGrpSpPr>
        <p:grpSpPr>
          <a:xfrm>
            <a:off x="5061035" y="1690688"/>
            <a:ext cx="2069930" cy="4040430"/>
            <a:chOff x="5064210" y="1690688"/>
            <a:chExt cx="2069930" cy="4040430"/>
          </a:xfrm>
        </p:grpSpPr>
        <p:sp>
          <p:nvSpPr>
            <p:cNvPr id="5" name="Process 4">
              <a:extLst>
                <a:ext uri="{FF2B5EF4-FFF2-40B4-BE49-F238E27FC236}">
                  <a16:creationId xmlns:a16="http://schemas.microsoft.com/office/drawing/2014/main" id="{9E6815CC-1A7B-94C7-A5D3-D233D04BE9B8}"/>
                </a:ext>
              </a:extLst>
            </p:cNvPr>
            <p:cNvSpPr/>
            <p:nvPr/>
          </p:nvSpPr>
          <p:spPr>
            <a:xfrm>
              <a:off x="5070560" y="3214459"/>
              <a:ext cx="2063580" cy="84025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BE" dirty="0"/>
                <a:t>Question</a:t>
              </a:r>
            </a:p>
          </p:txBody>
        </p:sp>
        <p:sp>
          <p:nvSpPr>
            <p:cNvPr id="6" name="Process 5">
              <a:extLst>
                <a:ext uri="{FF2B5EF4-FFF2-40B4-BE49-F238E27FC236}">
                  <a16:creationId xmlns:a16="http://schemas.microsoft.com/office/drawing/2014/main" id="{5EEEEB2F-E10C-1AF4-7FC5-F1BB9898D65B}"/>
                </a:ext>
              </a:extLst>
            </p:cNvPr>
            <p:cNvSpPr/>
            <p:nvPr/>
          </p:nvSpPr>
          <p:spPr>
            <a:xfrm>
              <a:off x="5070560" y="4890859"/>
              <a:ext cx="2063580" cy="84025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BE" dirty="0"/>
                <a:t>QuestionFormat</a:t>
              </a:r>
            </a:p>
          </p:txBody>
        </p: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32DE4B70-A813-E6AE-62FD-E3F5ED02EAB2}"/>
                </a:ext>
              </a:extLst>
            </p:cNvPr>
            <p:cNvCxnSpPr>
              <a:stCxn id="6" idx="0"/>
              <a:endCxn id="5" idx="2"/>
            </p:cNvCxnSpPr>
            <p:nvPr/>
          </p:nvCxnSpPr>
          <p:spPr>
            <a:xfrm rot="5400000" flipH="1" flipV="1">
              <a:off x="5684280" y="4472789"/>
              <a:ext cx="836141" cy="12700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9B27539-7BB9-2B23-4B3C-A8C8CAC18AFE}"/>
                </a:ext>
              </a:extLst>
            </p:cNvPr>
            <p:cNvSpPr txBox="1"/>
            <p:nvPr/>
          </p:nvSpPr>
          <p:spPr>
            <a:xfrm>
              <a:off x="5790243" y="4535069"/>
              <a:ext cx="3325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BE" dirty="0"/>
                <a:t>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26D53A9-7D8D-C932-211A-712C79606BDC}"/>
                </a:ext>
              </a:extLst>
            </p:cNvPr>
            <p:cNvSpPr txBox="1"/>
            <p:nvPr/>
          </p:nvSpPr>
          <p:spPr>
            <a:xfrm>
              <a:off x="6136615" y="4036302"/>
              <a:ext cx="3325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BE" dirty="0"/>
                <a:t>N</a:t>
              </a:r>
            </a:p>
          </p:txBody>
        </p:sp>
        <p:sp>
          <p:nvSpPr>
            <p:cNvPr id="23" name="Process 22">
              <a:extLst>
                <a:ext uri="{FF2B5EF4-FFF2-40B4-BE49-F238E27FC236}">
                  <a16:creationId xmlns:a16="http://schemas.microsoft.com/office/drawing/2014/main" id="{9AA62EE3-4D31-A303-9BDC-1727CE83E481}"/>
                </a:ext>
              </a:extLst>
            </p:cNvPr>
            <p:cNvSpPr/>
            <p:nvPr/>
          </p:nvSpPr>
          <p:spPr>
            <a:xfrm>
              <a:off x="5064210" y="1690688"/>
              <a:ext cx="2063580" cy="84025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BE" dirty="0"/>
                <a:t>QuestionOption</a:t>
              </a:r>
            </a:p>
          </p:txBody>
        </p:sp>
        <p:cxnSp>
          <p:nvCxnSpPr>
            <p:cNvPr id="25" name="Elbow Connector 24">
              <a:extLst>
                <a:ext uri="{FF2B5EF4-FFF2-40B4-BE49-F238E27FC236}">
                  <a16:creationId xmlns:a16="http://schemas.microsoft.com/office/drawing/2014/main" id="{3BE317FD-C9BB-5CC7-8BC0-E6D867B94A0E}"/>
                </a:ext>
              </a:extLst>
            </p:cNvPr>
            <p:cNvCxnSpPr>
              <a:stCxn id="5" idx="0"/>
              <a:endCxn id="23" idx="2"/>
            </p:cNvCxnSpPr>
            <p:nvPr/>
          </p:nvCxnSpPr>
          <p:spPr>
            <a:xfrm rot="16200000" flipV="1">
              <a:off x="5757419" y="2869528"/>
              <a:ext cx="683512" cy="6350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4E63779-8D8D-2BE6-18D5-EF5EC4C22C29}"/>
                </a:ext>
              </a:extLst>
            </p:cNvPr>
            <p:cNvSpPr txBox="1"/>
            <p:nvPr/>
          </p:nvSpPr>
          <p:spPr>
            <a:xfrm>
              <a:off x="5817951" y="2830951"/>
              <a:ext cx="3325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BE" dirty="0"/>
                <a:t>1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1332BF2-0D59-4F10-F30D-F41A7C4476DE}"/>
                </a:ext>
              </a:extLst>
            </p:cNvPr>
            <p:cNvSpPr txBox="1"/>
            <p:nvPr/>
          </p:nvSpPr>
          <p:spPr>
            <a:xfrm>
              <a:off x="6150466" y="2484587"/>
              <a:ext cx="3325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BE" dirty="0"/>
                <a:t>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760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5ECA5-7702-E5C1-9C04-7BCD9B8A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Guidance for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51857-B893-8325-6354-4DB02682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</a:t>
            </a:r>
            <a:r>
              <a:rPr lang="en-BE" dirty="0"/>
              <a:t>dded directly to question</a:t>
            </a:r>
          </a:p>
          <a:p>
            <a:r>
              <a:rPr lang="en-BE" dirty="0"/>
              <a:t>Added indirectly by assigning themes to questions</a:t>
            </a:r>
          </a:p>
        </p:txBody>
      </p:sp>
    </p:spTree>
    <p:extLst>
      <p:ext uri="{BB962C8B-B14F-4D97-AF65-F5344CB8AC3E}">
        <p14:creationId xmlns:p14="http://schemas.microsoft.com/office/powerpoint/2010/main" val="2243824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80BC5-F6C7-4012-3487-14F85F1ED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Guidance: directly</a:t>
            </a:r>
          </a:p>
        </p:txBody>
      </p:sp>
      <p:sp>
        <p:nvSpPr>
          <p:cNvPr id="4" name="Process 3">
            <a:extLst>
              <a:ext uri="{FF2B5EF4-FFF2-40B4-BE49-F238E27FC236}">
                <a16:creationId xmlns:a16="http://schemas.microsoft.com/office/drawing/2014/main" id="{6F9C3D02-1BC4-35F6-F630-28FFF8BCED67}"/>
              </a:ext>
            </a:extLst>
          </p:cNvPr>
          <p:cNvSpPr/>
          <p:nvPr/>
        </p:nvSpPr>
        <p:spPr>
          <a:xfrm>
            <a:off x="838200" y="2223279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Question</a:t>
            </a:r>
          </a:p>
        </p:txBody>
      </p:sp>
      <p:sp>
        <p:nvSpPr>
          <p:cNvPr id="5" name="Process 4">
            <a:extLst>
              <a:ext uri="{FF2B5EF4-FFF2-40B4-BE49-F238E27FC236}">
                <a16:creationId xmlns:a16="http://schemas.microsoft.com/office/drawing/2014/main" id="{2E1086AC-962C-F3B9-4EEB-884415FB5B75}"/>
              </a:ext>
            </a:extLst>
          </p:cNvPr>
          <p:cNvSpPr/>
          <p:nvPr/>
        </p:nvSpPr>
        <p:spPr>
          <a:xfrm>
            <a:off x="4232564" y="2223279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Annotation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1900644-9DC2-288B-5383-834DB6A2E4A4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901780" y="2643409"/>
            <a:ext cx="1330784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1367BC-4D95-6217-2562-1B62EB8765E8}"/>
              </a:ext>
            </a:extLst>
          </p:cNvPr>
          <p:cNvSpPr txBox="1"/>
          <p:nvPr/>
        </p:nvSpPr>
        <p:spPr>
          <a:xfrm>
            <a:off x="2946892" y="2678551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287C36-0D0B-59E5-27F3-ECD10F742728}"/>
              </a:ext>
            </a:extLst>
          </p:cNvPr>
          <p:cNvSpPr txBox="1"/>
          <p:nvPr/>
        </p:nvSpPr>
        <p:spPr>
          <a:xfrm>
            <a:off x="3930555" y="2276762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316323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E80741A-6BED-8DDE-A2C8-2F7EA600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BE" dirty="0"/>
              <a:t>Guidance: by theme</a:t>
            </a:r>
          </a:p>
        </p:txBody>
      </p:sp>
      <p:sp>
        <p:nvSpPr>
          <p:cNvPr id="9" name="Process 8">
            <a:extLst>
              <a:ext uri="{FF2B5EF4-FFF2-40B4-BE49-F238E27FC236}">
                <a16:creationId xmlns:a16="http://schemas.microsoft.com/office/drawing/2014/main" id="{0D2FA42D-85F3-8EFC-C851-CD34E0477FF8}"/>
              </a:ext>
            </a:extLst>
          </p:cNvPr>
          <p:cNvSpPr/>
          <p:nvPr/>
        </p:nvSpPr>
        <p:spPr>
          <a:xfrm>
            <a:off x="838200" y="2223279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Question</a:t>
            </a:r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526482F5-B067-8E85-47AB-4E14FEBFFD79}"/>
              </a:ext>
            </a:extLst>
          </p:cNvPr>
          <p:cNvSpPr/>
          <p:nvPr/>
        </p:nvSpPr>
        <p:spPr>
          <a:xfrm>
            <a:off x="7765473" y="2223279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Theme</a:t>
            </a:r>
          </a:p>
        </p:txBody>
      </p:sp>
      <p:sp>
        <p:nvSpPr>
          <p:cNvPr id="12" name="Process 11">
            <a:extLst>
              <a:ext uri="{FF2B5EF4-FFF2-40B4-BE49-F238E27FC236}">
                <a16:creationId xmlns:a16="http://schemas.microsoft.com/office/drawing/2014/main" id="{CDB3AB8A-8A92-26B8-803F-DED695D8670A}"/>
              </a:ext>
            </a:extLst>
          </p:cNvPr>
          <p:cNvSpPr/>
          <p:nvPr/>
        </p:nvSpPr>
        <p:spPr>
          <a:xfrm>
            <a:off x="4301836" y="2223279"/>
            <a:ext cx="2063580" cy="840259"/>
          </a:xfrm>
          <a:prstGeom prst="flowChart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q</a:t>
            </a:r>
            <a:r>
              <a:rPr lang="en-BE" dirty="0">
                <a:solidFill>
                  <a:schemeClr val="accent1">
                    <a:lumMod val="75000"/>
                  </a:schemeClr>
                </a:solidFill>
              </a:rPr>
              <a:t>uestions_themes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33E02C9E-CA4F-23A8-A110-0DD793AAE1DE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2901780" y="2643409"/>
            <a:ext cx="1400056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07343C13-CDAA-3C4F-4229-1FB1579F06F6}"/>
              </a:ext>
            </a:extLst>
          </p:cNvPr>
          <p:cNvCxnSpPr>
            <a:stCxn id="11" idx="1"/>
            <a:endCxn id="12" idx="3"/>
          </p:cNvCxnSpPr>
          <p:nvPr/>
        </p:nvCxnSpPr>
        <p:spPr>
          <a:xfrm rot="10800000">
            <a:off x="6365417" y="2643409"/>
            <a:ext cx="1400057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758F7A8-AAA0-F567-3A2F-3C9A9B621FCA}"/>
              </a:ext>
            </a:extLst>
          </p:cNvPr>
          <p:cNvSpPr txBox="1"/>
          <p:nvPr/>
        </p:nvSpPr>
        <p:spPr>
          <a:xfrm>
            <a:off x="2901779" y="2698759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1CE7EF-F142-7107-329B-107839348376}"/>
              </a:ext>
            </a:extLst>
          </p:cNvPr>
          <p:cNvSpPr txBox="1"/>
          <p:nvPr/>
        </p:nvSpPr>
        <p:spPr>
          <a:xfrm>
            <a:off x="7459921" y="2671049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9B075F-2191-A673-D5D8-108309BEE067}"/>
              </a:ext>
            </a:extLst>
          </p:cNvPr>
          <p:cNvSpPr txBox="1"/>
          <p:nvPr/>
        </p:nvSpPr>
        <p:spPr>
          <a:xfrm>
            <a:off x="3885455" y="2712612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BFCFC7-B5C2-CCB6-0E9C-974A2DCEDC99}"/>
              </a:ext>
            </a:extLst>
          </p:cNvPr>
          <p:cNvSpPr txBox="1"/>
          <p:nvPr/>
        </p:nvSpPr>
        <p:spPr>
          <a:xfrm>
            <a:off x="6462400" y="2698752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22" name="Process 21">
            <a:extLst>
              <a:ext uri="{FF2B5EF4-FFF2-40B4-BE49-F238E27FC236}">
                <a16:creationId xmlns:a16="http://schemas.microsoft.com/office/drawing/2014/main" id="{5904E8AC-95A7-5142-42DE-C4F841115CA7}"/>
              </a:ext>
            </a:extLst>
          </p:cNvPr>
          <p:cNvSpPr/>
          <p:nvPr/>
        </p:nvSpPr>
        <p:spPr>
          <a:xfrm>
            <a:off x="7889412" y="5467618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Guidance</a:t>
            </a:r>
          </a:p>
        </p:txBody>
      </p:sp>
      <p:sp>
        <p:nvSpPr>
          <p:cNvPr id="25" name="Process 24">
            <a:extLst>
              <a:ext uri="{FF2B5EF4-FFF2-40B4-BE49-F238E27FC236}">
                <a16:creationId xmlns:a16="http://schemas.microsoft.com/office/drawing/2014/main" id="{936A3F3D-B745-0776-03C7-B88A9AF19C0D}"/>
              </a:ext>
            </a:extLst>
          </p:cNvPr>
          <p:cNvSpPr/>
          <p:nvPr/>
        </p:nvSpPr>
        <p:spPr>
          <a:xfrm>
            <a:off x="7867879" y="3845448"/>
            <a:ext cx="2063580" cy="840259"/>
          </a:xfrm>
          <a:prstGeom prst="flowChartProcess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dirty="0">
                <a:solidFill>
                  <a:schemeClr val="accent1">
                    <a:lumMod val="75000"/>
                  </a:schemeClr>
                </a:solidFill>
              </a:rPr>
              <a:t>themes_in_guidance</a:t>
            </a:r>
            <a:endParaRPr lang="en-BE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8883A066-FC3A-122E-941E-F95722C9E473}"/>
              </a:ext>
            </a:extLst>
          </p:cNvPr>
          <p:cNvCxnSpPr>
            <a:stCxn id="22" idx="0"/>
            <a:endCxn id="25" idx="2"/>
          </p:cNvCxnSpPr>
          <p:nvPr/>
        </p:nvCxnSpPr>
        <p:spPr>
          <a:xfrm rot="16200000" flipV="1">
            <a:off x="8519481" y="5065896"/>
            <a:ext cx="781911" cy="2153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CCDCE1D4-5C1C-4933-6853-65D4549173DA}"/>
              </a:ext>
            </a:extLst>
          </p:cNvPr>
          <p:cNvCxnSpPr>
            <a:stCxn id="11" idx="2"/>
            <a:endCxn id="25" idx="0"/>
          </p:cNvCxnSpPr>
          <p:nvPr/>
        </p:nvCxnSpPr>
        <p:spPr>
          <a:xfrm rot="16200000" flipH="1">
            <a:off x="8457511" y="3403290"/>
            <a:ext cx="781910" cy="10240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806C0B0-F38E-4252-A189-172A5A216550}"/>
              </a:ext>
            </a:extLst>
          </p:cNvPr>
          <p:cNvSpPr txBox="1"/>
          <p:nvPr/>
        </p:nvSpPr>
        <p:spPr>
          <a:xfrm>
            <a:off x="8499014" y="3072835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7327F3-C114-BB97-852A-4DA7DA8B8A4A}"/>
              </a:ext>
            </a:extLst>
          </p:cNvPr>
          <p:cNvSpPr txBox="1"/>
          <p:nvPr/>
        </p:nvSpPr>
        <p:spPr>
          <a:xfrm>
            <a:off x="8609849" y="5109459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4E8BC0-3E8B-F5B6-790F-C65303CD6382}"/>
              </a:ext>
            </a:extLst>
          </p:cNvPr>
          <p:cNvSpPr txBox="1"/>
          <p:nvPr/>
        </p:nvSpPr>
        <p:spPr>
          <a:xfrm>
            <a:off x="8997782" y="3488464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D199C0-5597-7579-BEC5-233D8E68CAEB}"/>
              </a:ext>
            </a:extLst>
          </p:cNvPr>
          <p:cNvSpPr txBox="1"/>
          <p:nvPr/>
        </p:nvSpPr>
        <p:spPr>
          <a:xfrm>
            <a:off x="9025491" y="4749226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2009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3EF4F-FDD7-8840-840B-AF268AC05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Plan creation (wizard)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56F35-BBCA-C285-7ACB-148A5D4218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b="1" u="sng" dirty="0"/>
              <a:t>Plan is assigned a template_id</a:t>
            </a:r>
            <a:r>
              <a:rPr lang="en-BE" dirty="0"/>
              <a:t>.</a:t>
            </a:r>
          </a:p>
          <a:p>
            <a:r>
              <a:rPr lang="en-BE" dirty="0"/>
              <a:t>Plan is assigned a user_id</a:t>
            </a:r>
          </a:p>
          <a:p>
            <a:r>
              <a:rPr lang="en-BE" dirty="0"/>
              <a:t>Plan is assigned org_id</a:t>
            </a:r>
          </a:p>
          <a:p>
            <a:r>
              <a:rPr lang="en-BE" dirty="0"/>
              <a:t>Plan is assigned multiple collaborators (table roles) (user permissions)</a:t>
            </a:r>
          </a:p>
          <a:p>
            <a:r>
              <a:rPr lang="en-BE" dirty="0"/>
              <a:t>Plan is assigned multiple guidance groups</a:t>
            </a:r>
          </a:p>
        </p:txBody>
      </p:sp>
    </p:spTree>
    <p:extLst>
      <p:ext uri="{BB962C8B-B14F-4D97-AF65-F5344CB8AC3E}">
        <p14:creationId xmlns:p14="http://schemas.microsoft.com/office/powerpoint/2010/main" val="3500190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BEB81-02AF-ECAC-A12A-015F3D459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Caveat: relation plan - template</a:t>
            </a:r>
          </a:p>
        </p:txBody>
      </p:sp>
      <p:sp>
        <p:nvSpPr>
          <p:cNvPr id="4" name="Process 3">
            <a:extLst>
              <a:ext uri="{FF2B5EF4-FFF2-40B4-BE49-F238E27FC236}">
                <a16:creationId xmlns:a16="http://schemas.microsoft.com/office/drawing/2014/main" id="{1BABCA56-B000-E4CD-AC85-7D5AD01E00E5}"/>
              </a:ext>
            </a:extLst>
          </p:cNvPr>
          <p:cNvSpPr/>
          <p:nvPr/>
        </p:nvSpPr>
        <p:spPr>
          <a:xfrm>
            <a:off x="838200" y="2223279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Plan</a:t>
            </a:r>
          </a:p>
        </p:txBody>
      </p:sp>
      <p:sp>
        <p:nvSpPr>
          <p:cNvPr id="5" name="Process 4">
            <a:extLst>
              <a:ext uri="{FF2B5EF4-FFF2-40B4-BE49-F238E27FC236}">
                <a16:creationId xmlns:a16="http://schemas.microsoft.com/office/drawing/2014/main" id="{1A3EA07A-10AE-8454-2DA6-9D6B3B52B859}"/>
              </a:ext>
            </a:extLst>
          </p:cNvPr>
          <p:cNvSpPr/>
          <p:nvPr/>
        </p:nvSpPr>
        <p:spPr>
          <a:xfrm>
            <a:off x="9290220" y="2223278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Answer</a:t>
            </a:r>
          </a:p>
        </p:txBody>
      </p:sp>
      <p:sp>
        <p:nvSpPr>
          <p:cNvPr id="7" name="Process 6">
            <a:extLst>
              <a:ext uri="{FF2B5EF4-FFF2-40B4-BE49-F238E27FC236}">
                <a16:creationId xmlns:a16="http://schemas.microsoft.com/office/drawing/2014/main" id="{8032B559-373E-9832-969F-162614D1DB6D}"/>
              </a:ext>
            </a:extLst>
          </p:cNvPr>
          <p:cNvSpPr/>
          <p:nvPr/>
        </p:nvSpPr>
        <p:spPr>
          <a:xfrm>
            <a:off x="823782" y="4259897"/>
            <a:ext cx="2063579" cy="87732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Template</a:t>
            </a:r>
          </a:p>
        </p:txBody>
      </p:sp>
      <p:sp>
        <p:nvSpPr>
          <p:cNvPr id="8" name="Process 7">
            <a:extLst>
              <a:ext uri="{FF2B5EF4-FFF2-40B4-BE49-F238E27FC236}">
                <a16:creationId xmlns:a16="http://schemas.microsoft.com/office/drawing/2014/main" id="{351C0765-1D40-16A9-BCA2-714D3400C791}"/>
              </a:ext>
            </a:extLst>
          </p:cNvPr>
          <p:cNvSpPr/>
          <p:nvPr/>
        </p:nvSpPr>
        <p:spPr>
          <a:xfrm>
            <a:off x="5064210" y="4284611"/>
            <a:ext cx="2063580" cy="82172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Section</a:t>
            </a:r>
          </a:p>
        </p:txBody>
      </p:sp>
      <p:sp>
        <p:nvSpPr>
          <p:cNvPr id="9" name="Process 8">
            <a:extLst>
              <a:ext uri="{FF2B5EF4-FFF2-40B4-BE49-F238E27FC236}">
                <a16:creationId xmlns:a16="http://schemas.microsoft.com/office/drawing/2014/main" id="{1D85C99D-A720-804F-B47C-21BCB3D58A6E}"/>
              </a:ext>
            </a:extLst>
          </p:cNvPr>
          <p:cNvSpPr/>
          <p:nvPr/>
        </p:nvSpPr>
        <p:spPr>
          <a:xfrm>
            <a:off x="9290220" y="4259897"/>
            <a:ext cx="2063580" cy="84025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dirty="0"/>
              <a:t>Question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EFFAE442-F39F-64DE-642E-A09B8E91BA05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2887361" y="4695473"/>
            <a:ext cx="2176849" cy="308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3A5A337-00A6-D2BE-B227-768103467DD1}"/>
              </a:ext>
            </a:extLst>
          </p:cNvPr>
          <p:cNvCxnSpPr>
            <a:endCxn id="9" idx="1"/>
          </p:cNvCxnSpPr>
          <p:nvPr/>
        </p:nvCxnSpPr>
        <p:spPr>
          <a:xfrm>
            <a:off x="7116976" y="4670759"/>
            <a:ext cx="2173244" cy="926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DFA5A9C-13CF-82AE-4247-C392240584A8}"/>
              </a:ext>
            </a:extLst>
          </p:cNvPr>
          <p:cNvSpPr txBox="1"/>
          <p:nvPr/>
        </p:nvSpPr>
        <p:spPr>
          <a:xfrm>
            <a:off x="4606359" y="4779814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FEE989-2FDC-A38F-2507-51F3EAF238C4}"/>
              </a:ext>
            </a:extLst>
          </p:cNvPr>
          <p:cNvSpPr txBox="1"/>
          <p:nvPr/>
        </p:nvSpPr>
        <p:spPr>
          <a:xfrm>
            <a:off x="8859707" y="4821374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F977BE-66EF-0149-4418-94E1702E7707}"/>
              </a:ext>
            </a:extLst>
          </p:cNvPr>
          <p:cNvSpPr txBox="1"/>
          <p:nvPr/>
        </p:nvSpPr>
        <p:spPr>
          <a:xfrm>
            <a:off x="2985367" y="4821374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4787B7-76F9-C91E-BBE3-76697F6329C6}"/>
              </a:ext>
            </a:extLst>
          </p:cNvPr>
          <p:cNvSpPr txBox="1"/>
          <p:nvPr/>
        </p:nvSpPr>
        <p:spPr>
          <a:xfrm>
            <a:off x="7155584" y="4793659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B3E7662-B395-BDBE-8974-9EABA7A3B816}"/>
              </a:ext>
            </a:extLst>
          </p:cNvPr>
          <p:cNvCxnSpPr>
            <a:stCxn id="7" idx="0"/>
            <a:endCxn id="4" idx="2"/>
          </p:cNvCxnSpPr>
          <p:nvPr/>
        </p:nvCxnSpPr>
        <p:spPr>
          <a:xfrm rot="5400000" flipH="1" flipV="1">
            <a:off x="1264602" y="3654509"/>
            <a:ext cx="1196359" cy="1441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9C8D073F-DA16-4AA4-1B92-CBE6C78A6A8B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901780" y="2643408"/>
            <a:ext cx="6388440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41554FD9-C8BF-E272-7B4A-1908F0A7B1F6}"/>
              </a:ext>
            </a:extLst>
          </p:cNvPr>
          <p:cNvCxnSpPr>
            <a:stCxn id="9" idx="0"/>
            <a:endCxn id="5" idx="2"/>
          </p:cNvCxnSpPr>
          <p:nvPr/>
        </p:nvCxnSpPr>
        <p:spPr>
          <a:xfrm rot="5400000" flipH="1" flipV="1">
            <a:off x="9723830" y="3661717"/>
            <a:ext cx="1196360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3D85B08-FE89-451E-7C35-664176E4CC58}"/>
              </a:ext>
            </a:extLst>
          </p:cNvPr>
          <p:cNvSpPr txBox="1"/>
          <p:nvPr/>
        </p:nvSpPr>
        <p:spPr>
          <a:xfrm>
            <a:off x="2985362" y="2673926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E21FA0-0FB4-3641-9AEA-754EB1EB8893}"/>
              </a:ext>
            </a:extLst>
          </p:cNvPr>
          <p:cNvSpPr txBox="1"/>
          <p:nvPr/>
        </p:nvSpPr>
        <p:spPr>
          <a:xfrm>
            <a:off x="1489076" y="3851556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F2EA70-BFA5-D8D7-CFCE-50F38EE18004}"/>
              </a:ext>
            </a:extLst>
          </p:cNvPr>
          <p:cNvSpPr txBox="1"/>
          <p:nvPr/>
        </p:nvSpPr>
        <p:spPr>
          <a:xfrm>
            <a:off x="1973985" y="3144970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61A746-5635-4D18-B364-3D7800C02975}"/>
              </a:ext>
            </a:extLst>
          </p:cNvPr>
          <p:cNvSpPr txBox="1"/>
          <p:nvPr/>
        </p:nvSpPr>
        <p:spPr>
          <a:xfrm>
            <a:off x="8901247" y="2272122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0BC188-01E5-DD06-5488-235949BE4688}"/>
              </a:ext>
            </a:extLst>
          </p:cNvPr>
          <p:cNvSpPr txBox="1"/>
          <p:nvPr/>
        </p:nvSpPr>
        <p:spPr>
          <a:xfrm>
            <a:off x="10480668" y="3103391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6FFC90-48A0-2D96-A793-5555EAEF3CD6}"/>
              </a:ext>
            </a:extLst>
          </p:cNvPr>
          <p:cNvSpPr txBox="1"/>
          <p:nvPr/>
        </p:nvSpPr>
        <p:spPr>
          <a:xfrm>
            <a:off x="9898785" y="3837691"/>
            <a:ext cx="3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02390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6D7D5-D9A6-5F9F-E09D-D181635CE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Caveat: relation plan - template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F4B99-5DA3-CE08-7D08-BF9419FA9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Plan cannot exist without template</a:t>
            </a:r>
          </a:p>
          <a:p>
            <a:r>
              <a:rPr lang="en-BE" dirty="0"/>
              <a:t>Template cannot/must not change when plan uses it</a:t>
            </a:r>
          </a:p>
        </p:txBody>
      </p:sp>
    </p:spTree>
    <p:extLst>
      <p:ext uri="{BB962C8B-B14F-4D97-AF65-F5344CB8AC3E}">
        <p14:creationId xmlns:p14="http://schemas.microsoft.com/office/powerpoint/2010/main" val="10734514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1C082-7E76-9CD1-57D4-46CA2C652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Solution 1: publishing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559F4-9ED9-F6B2-6790-8763F0EEA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Every new template has </a:t>
            </a:r>
            <a:r>
              <a:rPr lang="en-BE" b="1" dirty="0"/>
              <a:t>published</a:t>
            </a:r>
            <a:r>
              <a:rPr lang="en-BE" dirty="0"/>
              <a:t> set to </a:t>
            </a:r>
            <a:r>
              <a:rPr lang="en-BE" b="1" dirty="0"/>
              <a:t>false</a:t>
            </a:r>
            <a:r>
              <a:rPr lang="en-BE" dirty="0"/>
              <a:t> and is therefore not selectable from the plan creation wizard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124407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CB8F0-3382-AEFC-47FC-34186312C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Solution 2: soft delete template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14C23-0F48-F49B-285C-BFC0246FA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Templates cannot be deleted. They are archived (archived=true)</a:t>
            </a:r>
          </a:p>
        </p:txBody>
      </p:sp>
    </p:spTree>
    <p:extLst>
      <p:ext uri="{BB962C8B-B14F-4D97-AF65-F5344CB8AC3E}">
        <p14:creationId xmlns:p14="http://schemas.microsoft.com/office/powerpoint/2010/main" val="3852488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DEAC-85A9-7C23-3C83-74DBE2EB1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Solution 3: versioning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752AF-D6DB-3F21-535D-4A21F1AB4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Avoid conflict by copying template structure (section-questio—theme-guidance) to a new unpublished template, and after that apply changes on that new template.</a:t>
            </a:r>
          </a:p>
          <a:p>
            <a:r>
              <a:rPr lang="en-BE" dirty="0"/>
              <a:t>Some background about copying templates ..</a:t>
            </a:r>
          </a:p>
        </p:txBody>
      </p:sp>
    </p:spTree>
    <p:extLst>
      <p:ext uri="{BB962C8B-B14F-4D97-AF65-F5344CB8AC3E}">
        <p14:creationId xmlns:p14="http://schemas.microsoft.com/office/powerpoint/2010/main" val="39075508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9D618-ED8C-054F-9FD0-6B122992E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attributes for templates important for copying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A8525-5B78-8449-AE69-E8DFDCC8B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family_id</a:t>
            </a:r>
            <a:endParaRPr lang="en-US" dirty="0"/>
          </a:p>
          <a:p>
            <a:r>
              <a:rPr lang="en-US" dirty="0"/>
              <a:t>version</a:t>
            </a:r>
          </a:p>
          <a:p>
            <a:r>
              <a:rPr lang="en-US" dirty="0" err="1"/>
              <a:t>customization_of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836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002C2-9715-384A-A575-9C8255804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copy template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1B8B2-9B96-4B4A-85D7-FCC1BADF1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Via “copy template”</a:t>
            </a:r>
          </a:p>
          <a:p>
            <a:r>
              <a:rPr lang="en-US" dirty="0"/>
              <a:t>Exact copy of template, all sections, all questions, and themes</a:t>
            </a:r>
          </a:p>
          <a:p>
            <a:r>
              <a:rPr lang="en-US" dirty="0"/>
              <a:t>attribute </a:t>
            </a:r>
            <a:r>
              <a:rPr lang="en-US" b="1" dirty="0" err="1"/>
              <a:t>family</a:t>
            </a:r>
            <a:r>
              <a:rPr lang="en-US" dirty="0" err="1"/>
              <a:t>_id</a:t>
            </a:r>
            <a:r>
              <a:rPr lang="en-US" dirty="0"/>
              <a:t>  = new unique value</a:t>
            </a:r>
          </a:p>
          <a:p>
            <a:r>
              <a:rPr lang="en-US" dirty="0"/>
              <a:t>attribute </a:t>
            </a:r>
            <a:r>
              <a:rPr lang="en-US" b="1" dirty="0"/>
              <a:t>version</a:t>
            </a:r>
            <a:r>
              <a:rPr lang="en-US" dirty="0"/>
              <a:t> </a:t>
            </a:r>
            <a:r>
              <a:rPr lang="en-US" b="1" dirty="0"/>
              <a:t>= 0</a:t>
            </a:r>
          </a:p>
          <a:p>
            <a:r>
              <a:rPr lang="en-US" dirty="0"/>
              <a:t>attribute </a:t>
            </a:r>
            <a:r>
              <a:rPr lang="en-US" b="1" dirty="0" err="1"/>
              <a:t>customization_of</a:t>
            </a:r>
            <a:r>
              <a:rPr lang="en-US" b="1" dirty="0"/>
              <a:t> </a:t>
            </a:r>
            <a:r>
              <a:rPr lang="en-US" dirty="0"/>
              <a:t>=</a:t>
            </a:r>
            <a:r>
              <a:rPr lang="en-US" b="1" dirty="0"/>
              <a:t>NULL</a:t>
            </a:r>
          </a:p>
          <a:p>
            <a:r>
              <a:rPr lang="en-US" dirty="0"/>
              <a:t>attribute </a:t>
            </a:r>
            <a:r>
              <a:rPr lang="en-US" b="1" dirty="0"/>
              <a:t>published</a:t>
            </a:r>
            <a:r>
              <a:rPr lang="en-US" dirty="0"/>
              <a:t> = </a:t>
            </a:r>
            <a:r>
              <a:rPr lang="en-US" b="1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105812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4F00F-E1FD-3147-A321-762A1EA77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published template assigned to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995BA-BCE4-AD4B-80BC-55C46FE79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Make raw copy of template with, but ..</a:t>
            </a:r>
          </a:p>
          <a:p>
            <a:pPr lvl="1"/>
            <a:r>
              <a:rPr lang="en-US" dirty="0" err="1"/>
              <a:t>new_template.family_id</a:t>
            </a:r>
            <a:r>
              <a:rPr lang="en-US" dirty="0"/>
              <a:t> = </a:t>
            </a:r>
            <a:r>
              <a:rPr lang="en-US" dirty="0" err="1"/>
              <a:t>old_template.family_id</a:t>
            </a:r>
            <a:endParaRPr lang="en-US" dirty="0"/>
          </a:p>
          <a:p>
            <a:pPr lvl="1"/>
            <a:r>
              <a:rPr lang="en-US" dirty="0" err="1"/>
              <a:t>new_template.version</a:t>
            </a:r>
            <a:r>
              <a:rPr lang="en-US" dirty="0"/>
              <a:t> = </a:t>
            </a:r>
            <a:r>
              <a:rPr lang="en-US" dirty="0" err="1"/>
              <a:t>old_template.version</a:t>
            </a:r>
            <a:r>
              <a:rPr lang="en-US" dirty="0"/>
              <a:t> +1</a:t>
            </a:r>
          </a:p>
          <a:p>
            <a:pPr lvl="1"/>
            <a:r>
              <a:rPr lang="en-US" dirty="0" err="1"/>
              <a:t>new_template.published</a:t>
            </a:r>
            <a:r>
              <a:rPr lang="en-US" dirty="0"/>
              <a:t> = false</a:t>
            </a:r>
          </a:p>
          <a:p>
            <a:r>
              <a:rPr lang="en-US" dirty="0"/>
              <a:t>Add new question to new unpublished template</a:t>
            </a:r>
          </a:p>
          <a:p>
            <a:r>
              <a:rPr lang="en-US" dirty="0"/>
              <a:t>Important: happens transparently (only visible in </a:t>
            </a:r>
            <a:r>
              <a:rPr lang="en-US" dirty="0" err="1"/>
              <a:t>url</a:t>
            </a:r>
            <a:r>
              <a:rPr lang="en-US" dirty="0"/>
              <a:t>)</a:t>
            </a:r>
          </a:p>
          <a:p>
            <a:r>
              <a:rPr lang="en-US" dirty="0"/>
              <a:t>templates with same </a:t>
            </a:r>
            <a:r>
              <a:rPr lang="en-US" dirty="0" err="1"/>
              <a:t>family_id</a:t>
            </a:r>
            <a:r>
              <a:rPr lang="en-US" dirty="0"/>
              <a:t> are all versions of the same template</a:t>
            </a:r>
          </a:p>
          <a:p>
            <a:r>
              <a:rPr lang="en-US" dirty="0"/>
              <a:t>with template family, on one can/should be published. Publishing a unpublished (latest) template, unpublished the </a:t>
            </a:r>
            <a:r>
              <a:rPr lang="en-US"/>
              <a:t>previous published one.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6301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10BFC-0457-6644-BB89-4864177ED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Customize (funder) template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D0866-5EFF-2748-9207-2D47C785D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raw copy of (funder) Template, but</a:t>
            </a:r>
          </a:p>
          <a:p>
            <a:pPr lvl="1"/>
            <a:r>
              <a:rPr lang="en-US" b="1" dirty="0" err="1"/>
              <a:t>new_template.family_id</a:t>
            </a:r>
            <a:r>
              <a:rPr lang="en-US" b="1" dirty="0"/>
              <a:t> = </a:t>
            </a:r>
            <a:r>
              <a:rPr lang="en-US" b="1" dirty="0" err="1"/>
              <a:t>new_id</a:t>
            </a:r>
            <a:endParaRPr lang="en-US" b="1" dirty="0"/>
          </a:p>
          <a:p>
            <a:pPr lvl="1"/>
            <a:r>
              <a:rPr lang="en-US" b="1" dirty="0" err="1"/>
              <a:t>new_template.version</a:t>
            </a:r>
            <a:r>
              <a:rPr lang="en-US" b="1" dirty="0"/>
              <a:t> = 0</a:t>
            </a:r>
          </a:p>
          <a:p>
            <a:pPr lvl="1"/>
            <a:r>
              <a:rPr lang="en-US" b="1" dirty="0" err="1"/>
              <a:t>new_template.published</a:t>
            </a:r>
            <a:r>
              <a:rPr lang="en-US" b="1" dirty="0"/>
              <a:t> = false</a:t>
            </a:r>
          </a:p>
          <a:p>
            <a:pPr lvl="1"/>
            <a:r>
              <a:rPr lang="en-US" b="1" dirty="0" err="1"/>
              <a:t>new_templation.customization_of</a:t>
            </a:r>
            <a:r>
              <a:rPr lang="en-US" b="1" dirty="0"/>
              <a:t> = </a:t>
            </a:r>
            <a:r>
              <a:rPr lang="en-US" b="1" dirty="0" err="1"/>
              <a:t>old_template.family_id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942233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699</Words>
  <Application>Microsoft Macintosh PowerPoint</Application>
  <PresentationFormat>Widescreen</PresentationFormat>
  <Paragraphs>121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Office Theme</vt:lpstr>
      <vt:lpstr>Structure roadmap</vt:lpstr>
      <vt:lpstr>Org-admin: template creation</vt:lpstr>
      <vt:lpstr>Template (base)</vt:lpstr>
      <vt:lpstr>Question</vt:lpstr>
      <vt:lpstr>Guidance for questions</vt:lpstr>
      <vt:lpstr>Guidance: directly</vt:lpstr>
      <vt:lpstr>Guidance: by theme</vt:lpstr>
      <vt:lpstr>Plan creation (wizard)</vt:lpstr>
      <vt:lpstr>Caveat: relation plan - template</vt:lpstr>
      <vt:lpstr>Caveat: relation plan - template</vt:lpstr>
      <vt:lpstr>Solution 1: publishing</vt:lpstr>
      <vt:lpstr>Solution 2: soft delete template</vt:lpstr>
      <vt:lpstr>Solution 3: versioning</vt:lpstr>
      <vt:lpstr>Special attributes for templates important for copying</vt:lpstr>
      <vt:lpstr>Raw copy template</vt:lpstr>
      <vt:lpstr>Update published template assigned to plan</vt:lpstr>
      <vt:lpstr>Customize (funder)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Oude dmponline</dc:title>
  <dc:creator>Nicolas Franck</dc:creator>
  <cp:lastModifiedBy>Nicolas Franck</cp:lastModifiedBy>
  <cp:revision>62</cp:revision>
  <dcterms:created xsi:type="dcterms:W3CDTF">2021-03-09T08:49:11Z</dcterms:created>
  <dcterms:modified xsi:type="dcterms:W3CDTF">2025-10-01T21:51:02Z</dcterms:modified>
</cp:coreProperties>
</file>